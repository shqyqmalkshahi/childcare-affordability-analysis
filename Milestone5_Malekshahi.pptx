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969" autoAdjust="0"/>
  </p:normalViewPr>
  <p:slideViewPr>
    <p:cSldViewPr snapToGrid="0">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5EAE42-7D8E-4058-85DF-12BA60DE18A2}"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E6B67-F67F-4480-A1D5-38AB58F429CA}" type="slidenum">
              <a:rPr lang="en-US" smtClean="0"/>
              <a:t>‹#›</a:t>
            </a:fld>
            <a:endParaRPr lang="en-US"/>
          </a:p>
        </p:txBody>
      </p:sp>
    </p:spTree>
    <p:extLst>
      <p:ext uri="{BB962C8B-B14F-4D97-AF65-F5344CB8AC3E}">
        <p14:creationId xmlns:p14="http://schemas.microsoft.com/office/powerpoint/2010/main" val="373341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1</a:t>
            </a:fld>
            <a:endParaRPr lang="en-US"/>
          </a:p>
        </p:txBody>
      </p:sp>
    </p:spTree>
    <p:extLst>
      <p:ext uri="{BB962C8B-B14F-4D97-AF65-F5344CB8AC3E}">
        <p14:creationId xmlns:p14="http://schemas.microsoft.com/office/powerpoint/2010/main" val="385756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2</a:t>
            </a:fld>
            <a:endParaRPr lang="en-US"/>
          </a:p>
        </p:txBody>
      </p:sp>
    </p:spTree>
    <p:extLst>
      <p:ext uri="{BB962C8B-B14F-4D97-AF65-F5344CB8AC3E}">
        <p14:creationId xmlns:p14="http://schemas.microsoft.com/office/powerpoint/2010/main" val="986705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3</a:t>
            </a:fld>
            <a:endParaRPr lang="en-US"/>
          </a:p>
        </p:txBody>
      </p:sp>
    </p:spTree>
    <p:extLst>
      <p:ext uri="{BB962C8B-B14F-4D97-AF65-F5344CB8AC3E}">
        <p14:creationId xmlns:p14="http://schemas.microsoft.com/office/powerpoint/2010/main" val="2962797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4</a:t>
            </a:fld>
            <a:endParaRPr lang="en-US"/>
          </a:p>
        </p:txBody>
      </p:sp>
    </p:spTree>
    <p:extLst>
      <p:ext uri="{BB962C8B-B14F-4D97-AF65-F5344CB8AC3E}">
        <p14:creationId xmlns:p14="http://schemas.microsoft.com/office/powerpoint/2010/main" val="1950958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5</a:t>
            </a:fld>
            <a:endParaRPr lang="en-US"/>
          </a:p>
        </p:txBody>
      </p:sp>
    </p:spTree>
    <p:extLst>
      <p:ext uri="{BB962C8B-B14F-4D97-AF65-F5344CB8AC3E}">
        <p14:creationId xmlns:p14="http://schemas.microsoft.com/office/powerpoint/2010/main" val="121580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6</a:t>
            </a:fld>
            <a:endParaRPr lang="en-US"/>
          </a:p>
        </p:txBody>
      </p:sp>
    </p:spTree>
    <p:extLst>
      <p:ext uri="{BB962C8B-B14F-4D97-AF65-F5344CB8AC3E}">
        <p14:creationId xmlns:p14="http://schemas.microsoft.com/office/powerpoint/2010/main" val="2788892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7</a:t>
            </a:fld>
            <a:endParaRPr lang="en-US"/>
          </a:p>
        </p:txBody>
      </p:sp>
    </p:spTree>
    <p:extLst>
      <p:ext uri="{BB962C8B-B14F-4D97-AF65-F5344CB8AC3E}">
        <p14:creationId xmlns:p14="http://schemas.microsoft.com/office/powerpoint/2010/main" val="4162046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8</a:t>
            </a:fld>
            <a:endParaRPr lang="en-US"/>
          </a:p>
        </p:txBody>
      </p:sp>
    </p:spTree>
    <p:extLst>
      <p:ext uri="{BB962C8B-B14F-4D97-AF65-F5344CB8AC3E}">
        <p14:creationId xmlns:p14="http://schemas.microsoft.com/office/powerpoint/2010/main" val="4109526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9</a:t>
            </a:fld>
            <a:endParaRPr lang="en-US"/>
          </a:p>
        </p:txBody>
      </p:sp>
    </p:spTree>
    <p:extLst>
      <p:ext uri="{BB962C8B-B14F-4D97-AF65-F5344CB8AC3E}">
        <p14:creationId xmlns:p14="http://schemas.microsoft.com/office/powerpoint/2010/main" val="3096954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10</a:t>
            </a:fld>
            <a:endParaRPr lang="en-US"/>
          </a:p>
        </p:txBody>
      </p:sp>
    </p:spTree>
    <p:extLst>
      <p:ext uri="{BB962C8B-B14F-4D97-AF65-F5344CB8AC3E}">
        <p14:creationId xmlns:p14="http://schemas.microsoft.com/office/powerpoint/2010/main" val="2010762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11</a:t>
            </a:fld>
            <a:endParaRPr lang="en-US"/>
          </a:p>
        </p:txBody>
      </p:sp>
    </p:spTree>
    <p:extLst>
      <p:ext uri="{BB962C8B-B14F-4D97-AF65-F5344CB8AC3E}">
        <p14:creationId xmlns:p14="http://schemas.microsoft.com/office/powerpoint/2010/main" val="512771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12</a:t>
            </a:fld>
            <a:endParaRPr lang="en-US"/>
          </a:p>
        </p:txBody>
      </p:sp>
    </p:spTree>
    <p:extLst>
      <p:ext uri="{BB962C8B-B14F-4D97-AF65-F5344CB8AC3E}">
        <p14:creationId xmlns:p14="http://schemas.microsoft.com/office/powerpoint/2010/main" val="3798648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13</a:t>
            </a:fld>
            <a:endParaRPr lang="en-US"/>
          </a:p>
        </p:txBody>
      </p:sp>
    </p:spTree>
    <p:extLst>
      <p:ext uri="{BB962C8B-B14F-4D97-AF65-F5344CB8AC3E}">
        <p14:creationId xmlns:p14="http://schemas.microsoft.com/office/powerpoint/2010/main" val="3175634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14</a:t>
            </a:fld>
            <a:endParaRPr lang="en-US"/>
          </a:p>
        </p:txBody>
      </p:sp>
    </p:spTree>
    <p:extLst>
      <p:ext uri="{BB962C8B-B14F-4D97-AF65-F5344CB8AC3E}">
        <p14:creationId xmlns:p14="http://schemas.microsoft.com/office/powerpoint/2010/main" val="23408924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CE6B67-F67F-4480-A1D5-38AB58F429CA}" type="slidenum">
              <a:rPr lang="en-US" smtClean="0"/>
              <a:t>15</a:t>
            </a:fld>
            <a:endParaRPr lang="en-US"/>
          </a:p>
        </p:txBody>
      </p:sp>
    </p:spTree>
    <p:extLst>
      <p:ext uri="{BB962C8B-B14F-4D97-AF65-F5344CB8AC3E}">
        <p14:creationId xmlns:p14="http://schemas.microsoft.com/office/powerpoint/2010/main" val="4098480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3/4/2026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2611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3/4/2026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34332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3/4/2026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3395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3/4/2026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68913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3/4/2026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85569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3/4/2026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0804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3/4/2026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61835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3/4/2026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66503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3/4/2026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3317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3/4/2026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2869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3/4/2026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086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3/4/2026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047850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4.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6.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2.png"/><Relationship Id="rId5" Type="http://schemas.openxmlformats.org/officeDocument/2006/relationships/image" Target="../media/image14.jpe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15.jpe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2.png"/><Relationship Id="rId5" Type="http://schemas.openxmlformats.org/officeDocument/2006/relationships/image" Target="../media/image16.jpe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C48D4B9-D712-C5ED-35F3-0B500BBD5720}"/>
              </a:ext>
            </a:extLst>
          </p:cNvPr>
          <p:cNvPicPr>
            <a:picLocks noChangeAspect="1"/>
          </p:cNvPicPr>
          <p:nvPr/>
        </p:nvPicPr>
        <p:blipFill>
          <a:blip r:embed="rId5">
            <a:alphaModFix amt="40000"/>
            <a:extLst>
              <a:ext uri="{28A0092B-C50C-407E-A947-70E740481C1C}">
                <a14:useLocalDpi xmlns:a14="http://schemas.microsoft.com/office/drawing/2010/main" val="0"/>
              </a:ext>
            </a:extLst>
          </a:blip>
          <a:srcRect t="31971" b="21061"/>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ED94DB5D-58B5-9705-FDA2-5C0256606553}"/>
              </a:ext>
            </a:extLst>
          </p:cNvPr>
          <p:cNvSpPr>
            <a:spLocks noGrp="1"/>
          </p:cNvSpPr>
          <p:nvPr>
            <p:ph type="ctrTitle"/>
          </p:nvPr>
        </p:nvSpPr>
        <p:spPr>
          <a:xfrm>
            <a:off x="640080" y="985233"/>
            <a:ext cx="5758628" cy="3355853"/>
          </a:xfrm>
        </p:spPr>
        <p:txBody>
          <a:bodyPr anchor="t">
            <a:normAutofit/>
          </a:bodyPr>
          <a:lstStyle/>
          <a:p>
            <a:pPr>
              <a:lnSpc>
                <a:spcPct val="90000"/>
              </a:lnSpc>
            </a:pPr>
            <a:r>
              <a:rPr lang="en-US" sz="4700" b="1" dirty="0">
                <a:solidFill>
                  <a:srgbClr val="FFFFFF"/>
                </a:solidFill>
              </a:rPr>
              <a:t>Childcare Affordability Across U.S. Counties</a:t>
            </a:r>
            <a:br>
              <a:rPr lang="en-US" sz="4700" dirty="0">
                <a:solidFill>
                  <a:srgbClr val="FFFFFF"/>
                </a:solidFill>
              </a:rPr>
            </a:br>
            <a:endParaRPr lang="en-US" sz="4700" dirty="0">
              <a:solidFill>
                <a:srgbClr val="FFFFFF"/>
              </a:solidFill>
            </a:endParaRPr>
          </a:p>
        </p:txBody>
      </p:sp>
      <p:sp>
        <p:nvSpPr>
          <p:cNvPr id="3" name="Subtitle 2">
            <a:extLst>
              <a:ext uri="{FF2B5EF4-FFF2-40B4-BE49-F238E27FC236}">
                <a16:creationId xmlns:a16="http://schemas.microsoft.com/office/drawing/2014/main" id="{BF2077A5-E224-CCF2-E5BE-1D5E7296488B}"/>
              </a:ext>
            </a:extLst>
          </p:cNvPr>
          <p:cNvSpPr>
            <a:spLocks noGrp="1"/>
          </p:cNvSpPr>
          <p:nvPr>
            <p:ph type="subTitle" idx="1"/>
          </p:nvPr>
        </p:nvSpPr>
        <p:spPr>
          <a:xfrm>
            <a:off x="640079" y="5111661"/>
            <a:ext cx="4726399" cy="1244682"/>
          </a:xfrm>
        </p:spPr>
        <p:txBody>
          <a:bodyPr anchor="t">
            <a:normAutofit/>
          </a:bodyPr>
          <a:lstStyle/>
          <a:p>
            <a:pPr>
              <a:lnSpc>
                <a:spcPct val="120000"/>
              </a:lnSpc>
            </a:pPr>
            <a:r>
              <a:rPr lang="en-US" sz="900" dirty="0">
                <a:solidFill>
                  <a:srgbClr val="FFFFFF"/>
                </a:solidFill>
              </a:rPr>
              <a:t>A Data Storytelling Project</a:t>
            </a:r>
          </a:p>
          <a:p>
            <a:pPr>
              <a:lnSpc>
                <a:spcPct val="120000"/>
              </a:lnSpc>
            </a:pPr>
            <a:r>
              <a:rPr lang="en-US" sz="900" dirty="0">
                <a:solidFill>
                  <a:srgbClr val="FFFFFF"/>
                </a:solidFill>
              </a:rPr>
              <a:t>Shaghayegh Malekshahi</a:t>
            </a:r>
            <a:br>
              <a:rPr lang="en-US" sz="900" dirty="0">
                <a:solidFill>
                  <a:srgbClr val="FFFFFF"/>
                </a:solidFill>
              </a:rPr>
            </a:br>
            <a:r>
              <a:rPr lang="en-US" sz="900" dirty="0">
                <a:solidFill>
                  <a:srgbClr val="FFFFFF"/>
                </a:solidFill>
              </a:rPr>
              <a:t>Bellevue University</a:t>
            </a:r>
            <a:br>
              <a:rPr lang="en-US" sz="900" dirty="0">
                <a:solidFill>
                  <a:srgbClr val="FFFFFF"/>
                </a:solidFill>
              </a:rPr>
            </a:br>
            <a:r>
              <a:rPr lang="en-US" sz="900" dirty="0">
                <a:solidFill>
                  <a:srgbClr val="FFFFFF"/>
                </a:solidFill>
              </a:rPr>
              <a:t>DSC640-T301 Data Presentation &amp; Visualization</a:t>
            </a:r>
          </a:p>
        </p:txBody>
      </p:sp>
      <p:cxnSp>
        <p:nvCxnSpPr>
          <p:cNvPr id="20" name="Straight Connector 19">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7" name="Audio 16">
            <a:hlinkClick r:id="" action="ppaction://media"/>
            <a:extLst>
              <a:ext uri="{FF2B5EF4-FFF2-40B4-BE49-F238E27FC236}">
                <a16:creationId xmlns:a16="http://schemas.microsoft.com/office/drawing/2014/main" id="{17488933-09FA-88E1-E1DF-2186E406DDED}"/>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7162908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3069"/>
    </mc:Choice>
    <mc:Fallback>
      <p:transition spd="slow" advTm="230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7" name="Picture 6">
            <a:extLst>
              <a:ext uri="{FF2B5EF4-FFF2-40B4-BE49-F238E27FC236}">
                <a16:creationId xmlns:a16="http://schemas.microsoft.com/office/drawing/2014/main" id="{FD153521-712A-F2B0-852B-1ADEA57C0C39}"/>
              </a:ext>
            </a:extLst>
          </p:cNvPr>
          <p:cNvPicPr>
            <a:picLocks noChangeAspect="1"/>
          </p:cNvPicPr>
          <p:nvPr/>
        </p:nvPicPr>
        <p:blipFill>
          <a:blip r:embed="rId5">
            <a:alphaModFix/>
            <a:extLst>
              <a:ext uri="{28A0092B-C50C-407E-A947-70E740481C1C}">
                <a14:useLocalDpi xmlns:a14="http://schemas.microsoft.com/office/drawing/2010/main" val="0"/>
              </a:ext>
            </a:extLst>
          </a:blip>
          <a:srcRect b="9711"/>
          <a:stretch>
            <a:fillRect/>
          </a:stretch>
        </p:blipFill>
        <p:spPr>
          <a:xfrm>
            <a:off x="-4704" y="10"/>
            <a:ext cx="5696712" cy="6857990"/>
          </a:xfrm>
          <a:prstGeom prst="rect">
            <a:avLst/>
          </a:prstGeom>
        </p:spPr>
      </p:pic>
      <p:sp>
        <p:nvSpPr>
          <p:cNvPr id="21" name="Rectangle 20">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7654A6C-01C0-CFE3-DA81-3E5B18F9C264}"/>
              </a:ext>
            </a:extLst>
          </p:cNvPr>
          <p:cNvSpPr>
            <a:spLocks noGrp="1"/>
          </p:cNvSpPr>
          <p:nvPr>
            <p:ph type="title"/>
          </p:nvPr>
        </p:nvSpPr>
        <p:spPr>
          <a:xfrm>
            <a:off x="642519" y="1371601"/>
            <a:ext cx="4023360" cy="2671482"/>
          </a:xfrm>
        </p:spPr>
        <p:txBody>
          <a:bodyPr>
            <a:normAutofit/>
          </a:bodyPr>
          <a:lstStyle/>
          <a:p>
            <a:r>
              <a:rPr lang="en-US">
                <a:solidFill>
                  <a:srgbClr val="FFFFFF"/>
                </a:solidFill>
              </a:rPr>
              <a:t>Problem Statement</a:t>
            </a:r>
          </a:p>
        </p:txBody>
      </p:sp>
      <p:cxnSp>
        <p:nvCxnSpPr>
          <p:cNvPr id="23" name="Straight Connector 22">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8C0151C-7423-BA2B-8575-631EC3824006}"/>
              </a:ext>
            </a:extLst>
          </p:cNvPr>
          <p:cNvSpPr>
            <a:spLocks noGrp="1"/>
          </p:cNvSpPr>
          <p:nvPr>
            <p:ph idx="1"/>
          </p:nvPr>
        </p:nvSpPr>
        <p:spPr>
          <a:xfrm>
            <a:off x="6242960" y="1031002"/>
            <a:ext cx="5288049" cy="5266922"/>
          </a:xfrm>
        </p:spPr>
        <p:txBody>
          <a:bodyPr>
            <a:normAutofit/>
          </a:bodyPr>
          <a:lstStyle/>
          <a:p>
            <a:pPr>
              <a:lnSpc>
                <a:spcPct val="110000"/>
              </a:lnSpc>
            </a:pPr>
            <a:r>
              <a:rPr lang="en-US" sz="1800" dirty="0"/>
              <a:t>Childcare costs have increased significantly across the United States.</a:t>
            </a:r>
          </a:p>
          <a:p>
            <a:pPr>
              <a:lnSpc>
                <a:spcPct val="110000"/>
              </a:lnSpc>
            </a:pPr>
            <a:r>
              <a:rPr lang="en-US" sz="1800" dirty="0"/>
              <a:t>High childcare prices affect workforce participation and family financial stability.</a:t>
            </a:r>
          </a:p>
          <a:p>
            <a:pPr>
              <a:lnSpc>
                <a:spcPct val="110000"/>
              </a:lnSpc>
            </a:pPr>
            <a:r>
              <a:rPr lang="en-US" sz="1800" dirty="0"/>
              <a:t>Infant childcare often represents one of the largest household expenses for families.</a:t>
            </a:r>
          </a:p>
          <a:p>
            <a:pPr>
              <a:lnSpc>
                <a:spcPct val="110000"/>
              </a:lnSpc>
            </a:pPr>
            <a:r>
              <a:rPr lang="en-US" sz="1800" dirty="0"/>
              <a:t>Policymakers and workforce development leaders need reliable data to identify where affordability burdens are most severe.</a:t>
            </a:r>
          </a:p>
          <a:p>
            <a:pPr>
              <a:lnSpc>
                <a:spcPct val="110000"/>
              </a:lnSpc>
            </a:pPr>
            <a:r>
              <a:rPr lang="en-US" sz="1800" dirty="0"/>
              <a:t>This project analyzes childcare affordability across U.S. counties to highlight geographic disparities.</a:t>
            </a:r>
            <a:endParaRPr lang="en-US" sz="1700" dirty="0"/>
          </a:p>
        </p:txBody>
      </p:sp>
      <p:pic>
        <p:nvPicPr>
          <p:cNvPr id="16" name="Audio 15">
            <a:hlinkClick r:id="" action="ppaction://media"/>
            <a:extLst>
              <a:ext uri="{FF2B5EF4-FFF2-40B4-BE49-F238E27FC236}">
                <a16:creationId xmlns:a16="http://schemas.microsoft.com/office/drawing/2014/main" id="{C331D393-8E94-B556-2D86-55D7F8251B5D}"/>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92584183"/>
      </p:ext>
    </p:extLst>
  </p:cSld>
  <p:clrMapOvr>
    <a:masterClrMapping/>
  </p:clrMapOvr>
  <mc:AlternateContent xmlns:mc="http://schemas.openxmlformats.org/markup-compatibility/2006">
    <mc:Choice xmlns:p14="http://schemas.microsoft.com/office/powerpoint/2010/main" Requires="p14">
      <p:transition spd="slow" p14:dur="2000" advTm="26053"/>
    </mc:Choice>
    <mc:Fallback>
      <p:transition spd="slow" advTm="260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a:extLst>
              <a:ext uri="{FF2B5EF4-FFF2-40B4-BE49-F238E27FC236}">
                <a16:creationId xmlns:a16="http://schemas.microsoft.com/office/drawing/2014/main" id="{6129B93D-C149-79EB-AC77-E8FABCA0214B}"/>
              </a:ext>
            </a:extLst>
          </p:cNvPr>
          <p:cNvPicPr>
            <a:picLocks noChangeAspect="1"/>
          </p:cNvPicPr>
          <p:nvPr/>
        </p:nvPicPr>
        <p:blipFill>
          <a:blip r:embed="rId5">
            <a:alphaModFix/>
            <a:extLst>
              <a:ext uri="{28A0092B-C50C-407E-A947-70E740481C1C}">
                <a14:useLocalDpi xmlns:a14="http://schemas.microsoft.com/office/drawing/2010/main" val="0"/>
              </a:ext>
            </a:extLst>
          </a:blip>
          <a:srcRect t="12239" r="1" b="20046"/>
          <a:stretch>
            <a:fillRect/>
          </a:stretch>
        </p:blipFill>
        <p:spPr>
          <a:xfrm>
            <a:off x="-4704" y="10"/>
            <a:ext cx="5696712" cy="6857990"/>
          </a:xfrm>
          <a:prstGeom prst="rect">
            <a:avLst/>
          </a:prstGeom>
        </p:spPr>
      </p:pic>
      <p:sp>
        <p:nvSpPr>
          <p:cNvPr id="21" name="Rectangle 20">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53B2AA7C-1A82-CD30-8D77-C301E2BFF1B5}"/>
              </a:ext>
            </a:extLst>
          </p:cNvPr>
          <p:cNvSpPr>
            <a:spLocks noGrp="1"/>
          </p:cNvSpPr>
          <p:nvPr>
            <p:ph type="title"/>
          </p:nvPr>
        </p:nvSpPr>
        <p:spPr>
          <a:xfrm>
            <a:off x="642519" y="1371601"/>
            <a:ext cx="4023360" cy="2671482"/>
          </a:xfrm>
        </p:spPr>
        <p:txBody>
          <a:bodyPr>
            <a:normAutofit/>
          </a:bodyPr>
          <a:lstStyle/>
          <a:p>
            <a:r>
              <a:rPr lang="en-US" dirty="0">
                <a:solidFill>
                  <a:srgbClr val="FFFFFF"/>
                </a:solidFill>
              </a:rPr>
              <a:t>Dataset</a:t>
            </a:r>
          </a:p>
        </p:txBody>
      </p:sp>
      <p:cxnSp>
        <p:nvCxnSpPr>
          <p:cNvPr id="23" name="Straight Connector 22">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9988FCC-9720-CCC1-CA57-6D1E5353A362}"/>
              </a:ext>
            </a:extLst>
          </p:cNvPr>
          <p:cNvSpPr>
            <a:spLocks noGrp="1"/>
          </p:cNvSpPr>
          <p:nvPr>
            <p:ph idx="1"/>
          </p:nvPr>
        </p:nvSpPr>
        <p:spPr>
          <a:xfrm>
            <a:off x="6242960" y="1031002"/>
            <a:ext cx="5288049" cy="5266922"/>
          </a:xfrm>
        </p:spPr>
        <p:txBody>
          <a:bodyPr>
            <a:normAutofit/>
          </a:bodyPr>
          <a:lstStyle/>
          <a:p>
            <a:pPr marL="0" indent="0">
              <a:lnSpc>
                <a:spcPct val="110000"/>
              </a:lnSpc>
              <a:buNone/>
            </a:pPr>
            <a:r>
              <a:rPr lang="en-US" sz="1700" dirty="0"/>
              <a:t>This analysis uses the </a:t>
            </a:r>
            <a:r>
              <a:rPr lang="en-US" sz="1700" b="1" dirty="0"/>
              <a:t>National Database of Childcare Prices</a:t>
            </a:r>
            <a:r>
              <a:rPr lang="en-US" sz="1700" dirty="0"/>
              <a:t>, a county-level dataset published by the </a:t>
            </a:r>
            <a:r>
              <a:rPr lang="en-US" sz="1700" b="1" dirty="0"/>
              <a:t>U.S. Department of Labor Women’s Bureau</a:t>
            </a:r>
            <a:r>
              <a:rPr lang="en-US" sz="1700" dirty="0"/>
              <a:t>. The dataset provides childcare price estimates across the United States and includes multiple childcare types and age groups.</a:t>
            </a:r>
          </a:p>
          <a:p>
            <a:pPr marL="0" indent="0">
              <a:lnSpc>
                <a:spcPct val="110000"/>
              </a:lnSpc>
              <a:buNone/>
            </a:pPr>
            <a:r>
              <a:rPr lang="en-US" sz="1700" dirty="0"/>
              <a:t>Key variables used in this analysis include:</a:t>
            </a:r>
          </a:p>
          <a:p>
            <a:pPr>
              <a:lnSpc>
                <a:spcPct val="110000"/>
              </a:lnSpc>
            </a:pPr>
            <a:r>
              <a:rPr lang="en-US" sz="1700" dirty="0"/>
              <a:t>Weekly childcare prices for </a:t>
            </a:r>
            <a:r>
              <a:rPr lang="en-US" sz="1700" b="1" dirty="0"/>
              <a:t>infants, toddlers, and preschool children</a:t>
            </a:r>
          </a:p>
          <a:p>
            <a:pPr>
              <a:lnSpc>
                <a:spcPct val="110000"/>
              </a:lnSpc>
            </a:pPr>
            <a:r>
              <a:rPr lang="en-US" sz="1700" dirty="0"/>
              <a:t>Costs for </a:t>
            </a:r>
            <a:r>
              <a:rPr lang="en-US" sz="1700" b="1" dirty="0"/>
              <a:t>center-based childcare</a:t>
            </a:r>
            <a:r>
              <a:rPr lang="en-US" sz="1700" dirty="0"/>
              <a:t> and </a:t>
            </a:r>
            <a:r>
              <a:rPr lang="en-US" sz="1700" b="1" dirty="0"/>
              <a:t>family childcare providers</a:t>
            </a:r>
          </a:p>
          <a:p>
            <a:pPr>
              <a:lnSpc>
                <a:spcPct val="110000"/>
              </a:lnSpc>
            </a:pPr>
            <a:r>
              <a:rPr lang="en-US" sz="1700" b="1" dirty="0"/>
              <a:t>Median household income</a:t>
            </a:r>
            <a:r>
              <a:rPr lang="en-US" sz="1700" dirty="0"/>
              <a:t> for each county</a:t>
            </a:r>
          </a:p>
          <a:p>
            <a:pPr marL="0" indent="0">
              <a:lnSpc>
                <a:spcPct val="110000"/>
              </a:lnSpc>
              <a:buNone/>
            </a:pPr>
            <a:r>
              <a:rPr lang="en-US" sz="1700" dirty="0"/>
              <a:t>To maintain consistency and interpretability, the analysis focuses on </a:t>
            </a:r>
            <a:r>
              <a:rPr lang="en-US" sz="1700" b="1" dirty="0"/>
              <a:t>2018</a:t>
            </a:r>
            <a:r>
              <a:rPr lang="en-US" sz="1700" dirty="0"/>
              <a:t>, the most recent year available in the original dataset used for the project.</a:t>
            </a:r>
          </a:p>
          <a:p>
            <a:pPr>
              <a:lnSpc>
                <a:spcPct val="110000"/>
              </a:lnSpc>
            </a:pPr>
            <a:endParaRPr lang="en-US" sz="1700" dirty="0"/>
          </a:p>
        </p:txBody>
      </p:sp>
      <p:pic>
        <p:nvPicPr>
          <p:cNvPr id="11" name="Audio 10">
            <a:hlinkClick r:id="" action="ppaction://media"/>
            <a:extLst>
              <a:ext uri="{FF2B5EF4-FFF2-40B4-BE49-F238E27FC236}">
                <a16:creationId xmlns:a16="http://schemas.microsoft.com/office/drawing/2014/main" id="{6A0DAA5A-02AC-442F-9F34-1C884A03AEF7}"/>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403999516"/>
      </p:ext>
    </p:extLst>
  </p:cSld>
  <p:clrMapOvr>
    <a:masterClrMapping/>
  </p:clrMapOvr>
  <mc:AlternateContent xmlns:mc="http://schemas.openxmlformats.org/markup-compatibility/2006">
    <mc:Choice xmlns:p14="http://schemas.microsoft.com/office/powerpoint/2010/main" Requires="p14">
      <p:transition spd="slow" p14:dur="2000" advTm="28643"/>
    </mc:Choice>
    <mc:Fallback>
      <p:transition spd="slow" advTm="286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a:extLst>
              <a:ext uri="{FF2B5EF4-FFF2-40B4-BE49-F238E27FC236}">
                <a16:creationId xmlns:a16="http://schemas.microsoft.com/office/drawing/2014/main" id="{2B843B97-AFC3-FA82-E677-FAD69E780063}"/>
              </a:ext>
            </a:extLst>
          </p:cNvPr>
          <p:cNvPicPr>
            <a:picLocks noChangeAspect="1"/>
          </p:cNvPicPr>
          <p:nvPr/>
        </p:nvPicPr>
        <p:blipFill>
          <a:blip r:embed="rId5">
            <a:alphaModFix/>
            <a:extLst>
              <a:ext uri="{28A0092B-C50C-407E-A947-70E740481C1C}">
                <a14:useLocalDpi xmlns:a14="http://schemas.microsoft.com/office/drawing/2010/main" val="0"/>
              </a:ext>
            </a:extLst>
          </a:blip>
          <a:srcRect t="12393" r="1" b="19891"/>
          <a:stretch>
            <a:fillRect/>
          </a:stretch>
        </p:blipFill>
        <p:spPr>
          <a:xfrm>
            <a:off x="-4704" y="10"/>
            <a:ext cx="5696712" cy="6857990"/>
          </a:xfrm>
          <a:prstGeom prst="rect">
            <a:avLst/>
          </a:prstGeom>
        </p:spPr>
      </p:pic>
      <p:sp>
        <p:nvSpPr>
          <p:cNvPr id="12" name="Rectangle 11">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C025381A-3D03-A12B-FAC7-318FC5FDB6EF}"/>
              </a:ext>
            </a:extLst>
          </p:cNvPr>
          <p:cNvSpPr>
            <a:spLocks noGrp="1"/>
          </p:cNvSpPr>
          <p:nvPr>
            <p:ph type="title"/>
          </p:nvPr>
        </p:nvSpPr>
        <p:spPr>
          <a:xfrm>
            <a:off x="642519" y="1371601"/>
            <a:ext cx="4023360" cy="2671482"/>
          </a:xfrm>
        </p:spPr>
        <p:txBody>
          <a:bodyPr>
            <a:normAutofit/>
          </a:bodyPr>
          <a:lstStyle/>
          <a:p>
            <a:r>
              <a:rPr lang="en-US">
                <a:solidFill>
                  <a:srgbClr val="FFFFFF"/>
                </a:solidFill>
              </a:rPr>
              <a:t>Analytical Approach</a:t>
            </a:r>
          </a:p>
        </p:txBody>
      </p:sp>
      <p:cxnSp>
        <p:nvCxnSpPr>
          <p:cNvPr id="14" name="Straight Connector 13">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42BAD3F-5591-5A72-1AFF-D8D674415DC3}"/>
              </a:ext>
            </a:extLst>
          </p:cNvPr>
          <p:cNvSpPr>
            <a:spLocks noGrp="1"/>
          </p:cNvSpPr>
          <p:nvPr>
            <p:ph idx="1"/>
          </p:nvPr>
        </p:nvSpPr>
        <p:spPr>
          <a:xfrm>
            <a:off x="6242960" y="1031002"/>
            <a:ext cx="5288049" cy="5266922"/>
          </a:xfrm>
        </p:spPr>
        <p:txBody>
          <a:bodyPr>
            <a:normAutofit/>
          </a:bodyPr>
          <a:lstStyle/>
          <a:p>
            <a:pPr marL="0" indent="0">
              <a:lnSpc>
                <a:spcPct val="110000"/>
              </a:lnSpc>
              <a:buNone/>
            </a:pPr>
            <a:r>
              <a:rPr lang="en-US" sz="1700"/>
              <a:t>To evaluate childcare affordability, weekly infant childcare prices were converted into annual cost estimates. These values were then compared with county-level median household income to calculate an </a:t>
            </a:r>
            <a:r>
              <a:rPr lang="en-US" sz="1700" b="1"/>
              <a:t>affordability ratio</a:t>
            </a:r>
            <a:r>
              <a:rPr lang="en-US" sz="1700"/>
              <a:t>, representing the share of household income required to pay for infant childcare.</a:t>
            </a:r>
          </a:p>
          <a:p>
            <a:pPr marL="0" indent="0">
              <a:lnSpc>
                <a:spcPct val="110000"/>
              </a:lnSpc>
              <a:buNone/>
            </a:pPr>
            <a:r>
              <a:rPr lang="en-US" sz="1700"/>
              <a:t>Additional comparisons were conducted across:</a:t>
            </a:r>
          </a:p>
          <a:p>
            <a:pPr>
              <a:lnSpc>
                <a:spcPct val="110000"/>
              </a:lnSpc>
            </a:pPr>
            <a:r>
              <a:rPr lang="en-US" sz="1700"/>
              <a:t>childcare </a:t>
            </a:r>
            <a:r>
              <a:rPr lang="en-US" sz="1700" b="1"/>
              <a:t>age groups</a:t>
            </a:r>
          </a:p>
          <a:p>
            <a:pPr>
              <a:lnSpc>
                <a:spcPct val="110000"/>
              </a:lnSpc>
            </a:pPr>
            <a:r>
              <a:rPr lang="en-US" sz="1700" b="1"/>
              <a:t>center-based vs family childcare providers</a:t>
            </a:r>
          </a:p>
          <a:p>
            <a:pPr>
              <a:lnSpc>
                <a:spcPct val="110000"/>
              </a:lnSpc>
            </a:pPr>
            <a:r>
              <a:rPr lang="en-US" sz="1700" b="1"/>
              <a:t>geographic differences across counties and states</a:t>
            </a:r>
            <a:endParaRPr lang="en-US" sz="1700"/>
          </a:p>
          <a:p>
            <a:pPr marL="0" indent="0">
              <a:lnSpc>
                <a:spcPct val="110000"/>
              </a:lnSpc>
              <a:buNone/>
            </a:pPr>
            <a:r>
              <a:rPr lang="en-US" sz="1700"/>
              <a:t>The goal of this analysis is not only to measure childcare prices but also to highlight how affordability burdens vary across regions.</a:t>
            </a:r>
          </a:p>
          <a:p>
            <a:pPr>
              <a:lnSpc>
                <a:spcPct val="110000"/>
              </a:lnSpc>
            </a:pPr>
            <a:endParaRPr lang="en-US" sz="1700"/>
          </a:p>
        </p:txBody>
      </p:sp>
      <p:pic>
        <p:nvPicPr>
          <p:cNvPr id="11" name="Audio 10">
            <a:hlinkClick r:id="" action="ppaction://media"/>
            <a:extLst>
              <a:ext uri="{FF2B5EF4-FFF2-40B4-BE49-F238E27FC236}">
                <a16:creationId xmlns:a16="http://schemas.microsoft.com/office/drawing/2014/main" id="{343E591C-F733-9B2F-1A52-36909FB0F259}"/>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248476019"/>
      </p:ext>
    </p:extLst>
  </p:cSld>
  <p:clrMapOvr>
    <a:masterClrMapping/>
  </p:clrMapOvr>
  <mc:AlternateContent xmlns:mc="http://schemas.openxmlformats.org/markup-compatibility/2006">
    <mc:Choice xmlns:p14="http://schemas.microsoft.com/office/powerpoint/2010/main" Requires="p14">
      <p:transition spd="slow" p14:dur="2000" advTm="29345"/>
    </mc:Choice>
    <mc:Fallback>
      <p:transition spd="slow" advTm="293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3" name="Picture 12">
            <a:extLst>
              <a:ext uri="{FF2B5EF4-FFF2-40B4-BE49-F238E27FC236}">
                <a16:creationId xmlns:a16="http://schemas.microsoft.com/office/drawing/2014/main" id="{78F48134-A395-B680-021D-623B4842737F}"/>
              </a:ext>
            </a:extLst>
          </p:cNvPr>
          <p:cNvPicPr>
            <a:picLocks noChangeAspect="1"/>
          </p:cNvPicPr>
          <p:nvPr/>
        </p:nvPicPr>
        <p:blipFill>
          <a:blip r:embed="rId5">
            <a:alphaModFix/>
            <a:extLst>
              <a:ext uri="{28A0092B-C50C-407E-A947-70E740481C1C}">
                <a14:useLocalDpi xmlns:a14="http://schemas.microsoft.com/office/drawing/2010/main" val="0"/>
              </a:ext>
            </a:extLst>
          </a:blip>
          <a:srcRect t="19643"/>
          <a:stretch>
            <a:fillRect/>
          </a:stretch>
        </p:blipFill>
        <p:spPr>
          <a:xfrm>
            <a:off x="-4704" y="10"/>
            <a:ext cx="5696712" cy="6857990"/>
          </a:xfrm>
          <a:prstGeom prst="rect">
            <a:avLst/>
          </a:prstGeom>
        </p:spPr>
      </p:pic>
      <p:sp>
        <p:nvSpPr>
          <p:cNvPr id="20" name="Rectangle 19">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E1462AC-4958-6620-665D-9A458E381446}"/>
              </a:ext>
            </a:extLst>
          </p:cNvPr>
          <p:cNvSpPr>
            <a:spLocks noGrp="1"/>
          </p:cNvSpPr>
          <p:nvPr>
            <p:ph type="title"/>
          </p:nvPr>
        </p:nvSpPr>
        <p:spPr>
          <a:xfrm>
            <a:off x="642519" y="1371601"/>
            <a:ext cx="4023360" cy="2671482"/>
          </a:xfrm>
        </p:spPr>
        <p:txBody>
          <a:bodyPr>
            <a:normAutofit/>
          </a:bodyPr>
          <a:lstStyle/>
          <a:p>
            <a:r>
              <a:rPr lang="en-US">
                <a:solidFill>
                  <a:srgbClr val="FFFFFF"/>
                </a:solidFill>
              </a:rPr>
              <a:t>Medium 1: Policy Presentation</a:t>
            </a:r>
          </a:p>
        </p:txBody>
      </p:sp>
      <p:cxnSp>
        <p:nvCxnSpPr>
          <p:cNvPr id="22" name="Straight Connector 21">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EA20115-77AD-4BF9-D552-3414B0046288}"/>
              </a:ext>
            </a:extLst>
          </p:cNvPr>
          <p:cNvSpPr>
            <a:spLocks noGrp="1"/>
          </p:cNvSpPr>
          <p:nvPr>
            <p:ph idx="1"/>
          </p:nvPr>
        </p:nvSpPr>
        <p:spPr>
          <a:xfrm>
            <a:off x="6242960" y="1031002"/>
            <a:ext cx="5288049" cy="5266922"/>
          </a:xfrm>
        </p:spPr>
        <p:txBody>
          <a:bodyPr>
            <a:normAutofit/>
          </a:bodyPr>
          <a:lstStyle/>
          <a:p>
            <a:pPr marL="0" indent="0">
              <a:buNone/>
            </a:pPr>
            <a:r>
              <a:rPr lang="en-US" dirty="0"/>
              <a:t>The first communication medium is a </a:t>
            </a:r>
            <a:r>
              <a:rPr lang="en-US" b="1" dirty="0"/>
              <a:t>policy-focused presentation</a:t>
            </a:r>
            <a:r>
              <a:rPr lang="en-US" dirty="0"/>
              <a:t> designed for policymakers and workforce development stakeholders. The objective of this medium is to present the most important affordability patterns clearly and concisely so decision-makers can identify where childcare costs place the greatest financial burden on families.</a:t>
            </a:r>
          </a:p>
          <a:p>
            <a:pPr marL="0" indent="0">
              <a:buNone/>
            </a:pPr>
            <a:r>
              <a:rPr lang="en-US" dirty="0"/>
              <a:t>The following visualizations highlight major affordability patterns and geographic differences in childcare pricing across the United States.</a:t>
            </a:r>
          </a:p>
          <a:p>
            <a:endParaRPr lang="en-US" dirty="0"/>
          </a:p>
        </p:txBody>
      </p:sp>
      <p:pic>
        <p:nvPicPr>
          <p:cNvPr id="21" name="Audio 20">
            <a:hlinkClick r:id="" action="ppaction://media"/>
            <a:extLst>
              <a:ext uri="{FF2B5EF4-FFF2-40B4-BE49-F238E27FC236}">
                <a16:creationId xmlns:a16="http://schemas.microsoft.com/office/drawing/2014/main" id="{7D875137-0792-762C-2DEC-90891809A00D}"/>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777869020"/>
      </p:ext>
    </p:extLst>
  </p:cSld>
  <p:clrMapOvr>
    <a:masterClrMapping/>
  </p:clrMapOvr>
  <mc:AlternateContent xmlns:mc="http://schemas.openxmlformats.org/markup-compatibility/2006">
    <mc:Choice xmlns:p14="http://schemas.microsoft.com/office/powerpoint/2010/main" Requires="p14">
      <p:transition spd="slow" p14:dur="2000" advTm="20539"/>
    </mc:Choice>
    <mc:Fallback>
      <p:transition spd="slow" advTm="205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03970D-EC80-439C-97D8-D4BFBBAA2FED}"/>
              </a:ext>
            </a:extLst>
          </p:cNvPr>
          <p:cNvSpPr>
            <a:spLocks noGrp="1"/>
          </p:cNvSpPr>
          <p:nvPr>
            <p:ph type="title"/>
          </p:nvPr>
        </p:nvSpPr>
        <p:spPr>
          <a:xfrm>
            <a:off x="640080" y="1371600"/>
            <a:ext cx="10890928" cy="971550"/>
          </a:xfrm>
        </p:spPr>
        <p:txBody>
          <a:bodyPr anchor="t">
            <a:normAutofit/>
          </a:bodyPr>
          <a:lstStyle/>
          <a:p>
            <a:r>
              <a:rPr lang="en-US" dirty="0"/>
              <a:t>Childcare Costs by Age Group</a:t>
            </a:r>
          </a:p>
        </p:txBody>
      </p:sp>
      <p:cxnSp>
        <p:nvCxnSpPr>
          <p:cNvPr id="12" name="Straight Connector 11">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AE7C3B5-22FE-C153-65BA-64227E4A18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7812" y="2402602"/>
            <a:ext cx="6283476" cy="3660123"/>
          </a:xfrm>
          <a:prstGeom prst="rect">
            <a:avLst/>
          </a:prstGeom>
        </p:spPr>
      </p:pic>
      <p:sp>
        <p:nvSpPr>
          <p:cNvPr id="3" name="Content Placeholder 2">
            <a:extLst>
              <a:ext uri="{FF2B5EF4-FFF2-40B4-BE49-F238E27FC236}">
                <a16:creationId xmlns:a16="http://schemas.microsoft.com/office/drawing/2014/main" id="{B68CF387-2CE0-92C9-9FD5-C5C9FDBCF90D}"/>
              </a:ext>
            </a:extLst>
          </p:cNvPr>
          <p:cNvSpPr>
            <a:spLocks noGrp="1"/>
          </p:cNvSpPr>
          <p:nvPr>
            <p:ph idx="1"/>
          </p:nvPr>
        </p:nvSpPr>
        <p:spPr>
          <a:xfrm>
            <a:off x="6871063" y="2537460"/>
            <a:ext cx="4659945" cy="3760459"/>
          </a:xfrm>
        </p:spPr>
        <p:txBody>
          <a:bodyPr anchor="t">
            <a:normAutofit/>
          </a:bodyPr>
          <a:lstStyle/>
          <a:p>
            <a:pPr marL="0" indent="0">
              <a:lnSpc>
                <a:spcPct val="110000"/>
              </a:lnSpc>
              <a:buNone/>
            </a:pPr>
            <a:r>
              <a:rPr lang="en-US" sz="1700"/>
              <a:t>Infant childcare consistently represents the </a:t>
            </a:r>
            <a:r>
              <a:rPr lang="en-US" sz="1700" b="1"/>
              <a:t>highest average weekly cost</a:t>
            </a:r>
            <a:r>
              <a:rPr lang="en-US" sz="1700"/>
              <a:t> across both center-based and family childcare settings. Costs decline slightly for toddlers and preschool children, but infant care remains the most financially demanding stage for families requiring full-time childcare.</a:t>
            </a:r>
          </a:p>
          <a:p>
            <a:pPr marL="0" indent="0">
              <a:lnSpc>
                <a:spcPct val="110000"/>
              </a:lnSpc>
              <a:buNone/>
            </a:pPr>
            <a:r>
              <a:rPr lang="en-US" sz="1700"/>
              <a:t>Additionally, center-based childcare is consistently more expensive than family childcare across all age groups, demonstrating structural differences in pricing between childcare provider types.</a:t>
            </a:r>
          </a:p>
          <a:p>
            <a:pPr marL="0" indent="0">
              <a:lnSpc>
                <a:spcPct val="110000"/>
              </a:lnSpc>
              <a:buNone/>
            </a:pPr>
            <a:endParaRPr lang="en-US" sz="1700"/>
          </a:p>
        </p:txBody>
      </p:sp>
      <p:pic>
        <p:nvPicPr>
          <p:cNvPr id="11" name="Audio 10">
            <a:hlinkClick r:id="" action="ppaction://media"/>
            <a:extLst>
              <a:ext uri="{FF2B5EF4-FFF2-40B4-BE49-F238E27FC236}">
                <a16:creationId xmlns:a16="http://schemas.microsoft.com/office/drawing/2014/main" id="{AC016304-1888-C4A8-FF3F-C3EDEB876D4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90132208"/>
      </p:ext>
    </p:extLst>
  </p:cSld>
  <p:clrMapOvr>
    <a:masterClrMapping/>
  </p:clrMapOvr>
  <mc:AlternateContent xmlns:mc="http://schemas.openxmlformats.org/markup-compatibility/2006">
    <mc:Choice xmlns:p14="http://schemas.microsoft.com/office/powerpoint/2010/main" Requires="p14">
      <p:transition spd="slow" p14:dur="2000" advTm="21983"/>
    </mc:Choice>
    <mc:Fallback>
      <p:transition spd="slow" advTm="219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EB261D-A491-B730-0FBF-C3183356335E}"/>
              </a:ext>
            </a:extLst>
          </p:cNvPr>
          <p:cNvSpPr>
            <a:spLocks noGrp="1"/>
          </p:cNvSpPr>
          <p:nvPr>
            <p:ph type="title"/>
          </p:nvPr>
        </p:nvSpPr>
        <p:spPr>
          <a:xfrm>
            <a:off x="640080" y="1371600"/>
            <a:ext cx="10890928" cy="971550"/>
          </a:xfrm>
        </p:spPr>
        <p:txBody>
          <a:bodyPr anchor="t">
            <a:normAutofit/>
          </a:bodyPr>
          <a:lstStyle/>
          <a:p>
            <a:r>
              <a:rPr lang="en-US" dirty="0"/>
              <a:t>Affordability Burden Across Counties</a:t>
            </a:r>
          </a:p>
        </p:txBody>
      </p:sp>
      <p:cxnSp>
        <p:nvCxnSpPr>
          <p:cNvPr id="12" name="Straight Connector 11">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386D8C0-35F0-F72A-F702-89DF79D135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7832" y="2488734"/>
            <a:ext cx="6307860" cy="3674327"/>
          </a:xfrm>
          <a:prstGeom prst="rect">
            <a:avLst/>
          </a:prstGeom>
        </p:spPr>
      </p:pic>
      <p:sp>
        <p:nvSpPr>
          <p:cNvPr id="3" name="Content Placeholder 2">
            <a:extLst>
              <a:ext uri="{FF2B5EF4-FFF2-40B4-BE49-F238E27FC236}">
                <a16:creationId xmlns:a16="http://schemas.microsoft.com/office/drawing/2014/main" id="{984ED9F7-65EC-9303-917B-CE516135D617}"/>
              </a:ext>
            </a:extLst>
          </p:cNvPr>
          <p:cNvSpPr>
            <a:spLocks noGrp="1"/>
          </p:cNvSpPr>
          <p:nvPr>
            <p:ph idx="1"/>
          </p:nvPr>
        </p:nvSpPr>
        <p:spPr>
          <a:xfrm>
            <a:off x="6871063" y="2537460"/>
            <a:ext cx="4659945" cy="3760459"/>
          </a:xfrm>
        </p:spPr>
        <p:txBody>
          <a:bodyPr anchor="t">
            <a:normAutofit/>
          </a:bodyPr>
          <a:lstStyle/>
          <a:p>
            <a:pPr marL="0" indent="0">
              <a:lnSpc>
                <a:spcPct val="110000"/>
              </a:lnSpc>
              <a:buNone/>
            </a:pPr>
            <a:r>
              <a:rPr lang="en-US" sz="1900"/>
              <a:t>Affordability was calculated as the ratio of </a:t>
            </a:r>
            <a:r>
              <a:rPr lang="en-US" sz="1900" b="1"/>
              <a:t>annual infant childcare cost to median household income</a:t>
            </a:r>
            <a:r>
              <a:rPr lang="en-US" sz="1900"/>
              <a:t>. The distribution across counties shows substantial variation, indicating that childcare affordability challenges are not experienced uniformly across the United States.</a:t>
            </a:r>
          </a:p>
          <a:p>
            <a:pPr marL="0" indent="0">
              <a:lnSpc>
                <a:spcPct val="110000"/>
              </a:lnSpc>
              <a:buNone/>
            </a:pPr>
            <a:r>
              <a:rPr lang="en-US" sz="1900"/>
              <a:t>While some counties experience moderate affordability burdens, others face significantly higher cost pressures relative to income levels.</a:t>
            </a:r>
          </a:p>
          <a:p>
            <a:pPr marL="0" indent="0">
              <a:lnSpc>
                <a:spcPct val="110000"/>
              </a:lnSpc>
              <a:buNone/>
            </a:pPr>
            <a:endParaRPr lang="en-US" sz="1900"/>
          </a:p>
        </p:txBody>
      </p:sp>
      <p:pic>
        <p:nvPicPr>
          <p:cNvPr id="16" name="Audio 15">
            <a:hlinkClick r:id="" action="ppaction://media"/>
            <a:extLst>
              <a:ext uri="{FF2B5EF4-FFF2-40B4-BE49-F238E27FC236}">
                <a16:creationId xmlns:a16="http://schemas.microsoft.com/office/drawing/2014/main" id="{6BB91A4A-9B40-E88C-8F39-045A11FDBE45}"/>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70072030"/>
      </p:ext>
    </p:extLst>
  </p:cSld>
  <p:clrMapOvr>
    <a:masterClrMapping/>
  </p:clrMapOvr>
  <mc:AlternateContent xmlns:mc="http://schemas.openxmlformats.org/markup-compatibility/2006">
    <mc:Choice xmlns:p14="http://schemas.microsoft.com/office/powerpoint/2010/main" Requires="p14">
      <p:transition spd="slow" p14:dur="2000" advTm="19925"/>
    </mc:Choice>
    <mc:Fallback>
      <p:transition spd="slow" advTm="199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A0B82C-7FA0-30E3-7E8A-E784DF52E058}"/>
              </a:ext>
            </a:extLst>
          </p:cNvPr>
          <p:cNvSpPr>
            <a:spLocks noGrp="1"/>
          </p:cNvSpPr>
          <p:nvPr>
            <p:ph type="title"/>
          </p:nvPr>
        </p:nvSpPr>
        <p:spPr>
          <a:xfrm>
            <a:off x="640080" y="1371600"/>
            <a:ext cx="10890928" cy="971550"/>
          </a:xfrm>
        </p:spPr>
        <p:txBody>
          <a:bodyPr anchor="t">
            <a:normAutofit/>
          </a:bodyPr>
          <a:lstStyle/>
          <a:p>
            <a:r>
              <a:rPr lang="en-US"/>
              <a:t>States with the Highest Affordability Burden</a:t>
            </a:r>
          </a:p>
        </p:txBody>
      </p:sp>
      <p:cxnSp>
        <p:nvCxnSpPr>
          <p:cNvPr id="54" name="Straight Connector 53">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DF06626-8CEA-31FB-52CC-D72ABA9CCEE7}"/>
              </a:ext>
            </a:extLst>
          </p:cNvPr>
          <p:cNvPicPr>
            <a:picLocks noChangeAspect="1"/>
          </p:cNvPicPr>
          <p:nvPr/>
        </p:nvPicPr>
        <p:blipFill>
          <a:blip r:embed="rId5">
            <a:extLst>
              <a:ext uri="{28A0092B-C50C-407E-A947-70E740481C1C}">
                <a14:useLocalDpi xmlns:a14="http://schemas.microsoft.com/office/drawing/2010/main" val="0"/>
              </a:ext>
            </a:extLst>
          </a:blip>
          <a:srcRect t="1723" r="4" b="1727"/>
          <a:stretch>
            <a:fillRect/>
          </a:stretch>
        </p:blipFill>
        <p:spPr>
          <a:xfrm>
            <a:off x="344364" y="2537460"/>
            <a:ext cx="6017061" cy="3760459"/>
          </a:xfrm>
          <a:prstGeom prst="rect">
            <a:avLst/>
          </a:prstGeom>
        </p:spPr>
      </p:pic>
      <p:sp>
        <p:nvSpPr>
          <p:cNvPr id="3" name="Content Placeholder 2">
            <a:extLst>
              <a:ext uri="{FF2B5EF4-FFF2-40B4-BE49-F238E27FC236}">
                <a16:creationId xmlns:a16="http://schemas.microsoft.com/office/drawing/2014/main" id="{D939AE09-F72B-AA5B-DA7C-8A00148832BB}"/>
              </a:ext>
            </a:extLst>
          </p:cNvPr>
          <p:cNvSpPr>
            <a:spLocks noGrp="1"/>
          </p:cNvSpPr>
          <p:nvPr>
            <p:ph idx="1"/>
          </p:nvPr>
        </p:nvSpPr>
        <p:spPr>
          <a:xfrm>
            <a:off x="6871063" y="2537460"/>
            <a:ext cx="4659945" cy="3760459"/>
          </a:xfrm>
        </p:spPr>
        <p:txBody>
          <a:bodyPr anchor="t">
            <a:normAutofit/>
          </a:bodyPr>
          <a:lstStyle/>
          <a:p>
            <a:pPr marL="0" indent="0">
              <a:lnSpc>
                <a:spcPct val="110000"/>
              </a:lnSpc>
              <a:buNone/>
            </a:pPr>
            <a:r>
              <a:rPr lang="en-US" dirty="0"/>
              <a:t>When county data is aggregated at the state level, several states demonstrate substantially higher affordability burdens compared to others. These patterns suggest that childcare affordability challenges are geographically concentrated and that policy responses may need to be tailored to regional economic conditions rather than applied uniformly nationwide.</a:t>
            </a:r>
            <a:endParaRPr lang="en-US"/>
          </a:p>
        </p:txBody>
      </p:sp>
      <p:pic>
        <p:nvPicPr>
          <p:cNvPr id="14" name="Audio 13">
            <a:hlinkClick r:id="" action="ppaction://media"/>
            <a:extLst>
              <a:ext uri="{FF2B5EF4-FFF2-40B4-BE49-F238E27FC236}">
                <a16:creationId xmlns:a16="http://schemas.microsoft.com/office/drawing/2014/main" id="{D3D155E7-0C91-6120-F7B4-37371832B48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03818427"/>
      </p:ext>
    </p:extLst>
  </p:cSld>
  <p:clrMapOvr>
    <a:masterClrMapping/>
  </p:clrMapOvr>
  <mc:AlternateContent xmlns:mc="http://schemas.openxmlformats.org/markup-compatibility/2006">
    <mc:Choice xmlns:p14="http://schemas.microsoft.com/office/powerpoint/2010/main" Requires="p14">
      <p:transition spd="slow" p14:dur="2000" advTm="17980"/>
    </mc:Choice>
    <mc:Fallback>
      <p:transition spd="slow" advTm="17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39169B-32D8-E124-524A-482A8F701BA7}"/>
              </a:ext>
            </a:extLst>
          </p:cNvPr>
          <p:cNvSpPr>
            <a:spLocks noGrp="1"/>
          </p:cNvSpPr>
          <p:nvPr>
            <p:ph type="title"/>
          </p:nvPr>
        </p:nvSpPr>
        <p:spPr>
          <a:xfrm>
            <a:off x="640080" y="1371600"/>
            <a:ext cx="10890928" cy="971550"/>
          </a:xfrm>
        </p:spPr>
        <p:txBody>
          <a:bodyPr anchor="t">
            <a:normAutofit/>
          </a:bodyPr>
          <a:lstStyle/>
          <a:p>
            <a:r>
              <a:rPr lang="en-US" dirty="0"/>
              <a:t>Income and Childcare Cost Relationship</a:t>
            </a:r>
          </a:p>
        </p:txBody>
      </p:sp>
      <p:cxnSp>
        <p:nvCxnSpPr>
          <p:cNvPr id="12" name="Straight Connector 11">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1072E84E-26BD-7DBC-BDAB-9AD2CEDE9F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006" y="2402602"/>
            <a:ext cx="5960420" cy="3829568"/>
          </a:xfrm>
          <a:prstGeom prst="rect">
            <a:avLst/>
          </a:prstGeom>
        </p:spPr>
      </p:pic>
      <p:sp>
        <p:nvSpPr>
          <p:cNvPr id="3" name="Content Placeholder 2">
            <a:extLst>
              <a:ext uri="{FF2B5EF4-FFF2-40B4-BE49-F238E27FC236}">
                <a16:creationId xmlns:a16="http://schemas.microsoft.com/office/drawing/2014/main" id="{32B456FE-234B-AFF5-A5CC-F89ACC3A5CFB}"/>
              </a:ext>
            </a:extLst>
          </p:cNvPr>
          <p:cNvSpPr>
            <a:spLocks noGrp="1"/>
          </p:cNvSpPr>
          <p:nvPr>
            <p:ph idx="1"/>
          </p:nvPr>
        </p:nvSpPr>
        <p:spPr>
          <a:xfrm>
            <a:off x="6871063" y="2537460"/>
            <a:ext cx="4659945" cy="3760459"/>
          </a:xfrm>
        </p:spPr>
        <p:txBody>
          <a:bodyPr anchor="t">
            <a:normAutofit/>
          </a:bodyPr>
          <a:lstStyle/>
          <a:p>
            <a:pPr marL="0" indent="0">
              <a:lnSpc>
                <a:spcPct val="110000"/>
              </a:lnSpc>
              <a:buNone/>
            </a:pPr>
            <a:r>
              <a:rPr lang="en-US" sz="1900"/>
              <a:t>Although higher household income can reduce financial strain in some areas, the relationship between income and childcare cost is not perfectly aligned. Some higher-income counties still experience high childcare prices, suggesting that structural pricing differences across regions play a significant role in affordability challenges.</a:t>
            </a:r>
          </a:p>
          <a:p>
            <a:pPr marL="0" indent="0">
              <a:lnSpc>
                <a:spcPct val="110000"/>
              </a:lnSpc>
              <a:buNone/>
            </a:pPr>
            <a:r>
              <a:rPr lang="en-US" sz="1900"/>
              <a:t>This indicates that childcare affordability cannot be explained by income alone.</a:t>
            </a:r>
          </a:p>
          <a:p>
            <a:pPr>
              <a:lnSpc>
                <a:spcPct val="110000"/>
              </a:lnSpc>
            </a:pPr>
            <a:endParaRPr lang="en-US" sz="1900"/>
          </a:p>
        </p:txBody>
      </p:sp>
      <p:pic>
        <p:nvPicPr>
          <p:cNvPr id="16" name="Audio 15">
            <a:hlinkClick r:id="" action="ppaction://media"/>
            <a:extLst>
              <a:ext uri="{FF2B5EF4-FFF2-40B4-BE49-F238E27FC236}">
                <a16:creationId xmlns:a16="http://schemas.microsoft.com/office/drawing/2014/main" id="{298F0669-95E6-C6EE-876C-7EAE76AAEFFB}"/>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697070018"/>
      </p:ext>
    </p:extLst>
  </p:cSld>
  <p:clrMapOvr>
    <a:masterClrMapping/>
  </p:clrMapOvr>
  <mc:AlternateContent xmlns:mc="http://schemas.openxmlformats.org/markup-compatibility/2006">
    <mc:Choice xmlns:p14="http://schemas.microsoft.com/office/powerpoint/2010/main" Requires="p14">
      <p:transition spd="slow" p14:dur="2000" advTm="21134"/>
    </mc:Choice>
    <mc:Fallback>
      <p:transition spd="slow" advTm="211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E14A595-39E1-8AE4-CDAA-16C8582725DB}"/>
              </a:ext>
            </a:extLst>
          </p:cNvPr>
          <p:cNvSpPr>
            <a:spLocks noGrp="1"/>
          </p:cNvSpPr>
          <p:nvPr>
            <p:ph type="title"/>
          </p:nvPr>
        </p:nvSpPr>
        <p:spPr>
          <a:xfrm>
            <a:off x="640080" y="1371600"/>
            <a:ext cx="10890928" cy="971550"/>
          </a:xfrm>
        </p:spPr>
        <p:txBody>
          <a:bodyPr anchor="t">
            <a:normAutofit/>
          </a:bodyPr>
          <a:lstStyle/>
          <a:p>
            <a:r>
              <a:rPr lang="en-US" dirty="0"/>
              <a:t>Center vs Family Infant Care Cost Gap</a:t>
            </a:r>
          </a:p>
        </p:txBody>
      </p:sp>
      <p:cxnSp>
        <p:nvCxnSpPr>
          <p:cNvPr id="12" name="Straight Connector 11">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342EBF61-5820-BC7A-1CC5-54E5E76966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852" y="2443825"/>
            <a:ext cx="6283476" cy="3660123"/>
          </a:xfrm>
          <a:prstGeom prst="rect">
            <a:avLst/>
          </a:prstGeom>
        </p:spPr>
      </p:pic>
      <p:sp>
        <p:nvSpPr>
          <p:cNvPr id="3" name="Content Placeholder 2">
            <a:extLst>
              <a:ext uri="{FF2B5EF4-FFF2-40B4-BE49-F238E27FC236}">
                <a16:creationId xmlns:a16="http://schemas.microsoft.com/office/drawing/2014/main" id="{91206290-FAE3-A940-D23E-44E7E55AFEDB}"/>
              </a:ext>
            </a:extLst>
          </p:cNvPr>
          <p:cNvSpPr>
            <a:spLocks noGrp="1"/>
          </p:cNvSpPr>
          <p:nvPr>
            <p:ph idx="1"/>
          </p:nvPr>
        </p:nvSpPr>
        <p:spPr>
          <a:xfrm>
            <a:off x="6871063" y="2537460"/>
            <a:ext cx="4659945" cy="3760459"/>
          </a:xfrm>
        </p:spPr>
        <p:txBody>
          <a:bodyPr anchor="t">
            <a:normAutofit/>
          </a:bodyPr>
          <a:lstStyle/>
          <a:p>
            <a:pPr marL="0" indent="0">
              <a:buNone/>
            </a:pPr>
            <a:r>
              <a:rPr lang="en-US" dirty="0"/>
              <a:t>The difference between center-based infant care and family childcare varies widely across counties. In many regions, family childcare provides a lower-cost alternative to center-based care. This gap highlights potential opportunities for reducing childcare costs if families have access to family childcare providers and if policies support their availability.</a:t>
            </a:r>
          </a:p>
        </p:txBody>
      </p:sp>
      <p:pic>
        <p:nvPicPr>
          <p:cNvPr id="11" name="Audio 10">
            <a:hlinkClick r:id="" action="ppaction://media"/>
            <a:extLst>
              <a:ext uri="{FF2B5EF4-FFF2-40B4-BE49-F238E27FC236}">
                <a16:creationId xmlns:a16="http://schemas.microsoft.com/office/drawing/2014/main" id="{C71BF224-7579-3357-8E45-5E8BA6EE7417}"/>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98991730"/>
      </p:ext>
    </p:extLst>
  </p:cSld>
  <p:clrMapOvr>
    <a:masterClrMapping/>
  </p:clrMapOvr>
  <mc:AlternateContent xmlns:mc="http://schemas.openxmlformats.org/markup-compatibility/2006">
    <mc:Choice xmlns:p14="http://schemas.microsoft.com/office/powerpoint/2010/main" Requires="p14">
      <p:transition spd="slow" p14:dur="2000" advTm="18730"/>
    </mc:Choice>
    <mc:Fallback>
      <p:transition spd="slow" advTm="18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B288062-5BFA-478D-72BA-2DD0E22738CD}"/>
              </a:ext>
            </a:extLst>
          </p:cNvPr>
          <p:cNvSpPr>
            <a:spLocks noGrp="1"/>
          </p:cNvSpPr>
          <p:nvPr>
            <p:ph type="title"/>
          </p:nvPr>
        </p:nvSpPr>
        <p:spPr>
          <a:xfrm>
            <a:off x="640080" y="1371600"/>
            <a:ext cx="10890928" cy="971550"/>
          </a:xfrm>
        </p:spPr>
        <p:txBody>
          <a:bodyPr anchor="t">
            <a:normAutofit/>
          </a:bodyPr>
          <a:lstStyle/>
          <a:p>
            <a:r>
              <a:rPr lang="en-US" dirty="0"/>
              <a:t>Medium 2: Dashboard Concept</a:t>
            </a:r>
          </a:p>
        </p:txBody>
      </p:sp>
      <p:cxnSp>
        <p:nvCxnSpPr>
          <p:cNvPr id="15" name="Straight Connector 14">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AB187EAF-1BE3-D25E-C8BC-1F1CD112D4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794" y="2537459"/>
            <a:ext cx="6151564" cy="3567905"/>
          </a:xfrm>
          <a:prstGeom prst="rect">
            <a:avLst/>
          </a:prstGeom>
        </p:spPr>
      </p:pic>
      <p:sp>
        <p:nvSpPr>
          <p:cNvPr id="3" name="Content Placeholder 2">
            <a:extLst>
              <a:ext uri="{FF2B5EF4-FFF2-40B4-BE49-F238E27FC236}">
                <a16:creationId xmlns:a16="http://schemas.microsoft.com/office/drawing/2014/main" id="{092FDFBC-F1DB-959D-050D-7B49A223B2DD}"/>
              </a:ext>
            </a:extLst>
          </p:cNvPr>
          <p:cNvSpPr>
            <a:spLocks noGrp="1"/>
          </p:cNvSpPr>
          <p:nvPr>
            <p:ph idx="1"/>
          </p:nvPr>
        </p:nvSpPr>
        <p:spPr>
          <a:xfrm>
            <a:off x="6871063" y="2537460"/>
            <a:ext cx="4659945" cy="3760459"/>
          </a:xfrm>
        </p:spPr>
        <p:txBody>
          <a:bodyPr anchor="t">
            <a:normAutofit/>
          </a:bodyPr>
          <a:lstStyle/>
          <a:p>
            <a:pPr marL="0" indent="0">
              <a:lnSpc>
                <a:spcPct val="110000"/>
              </a:lnSpc>
              <a:buNone/>
            </a:pPr>
            <a:r>
              <a:rPr lang="en-US" sz="1300"/>
              <a:t>The second communication medium is an </a:t>
            </a:r>
            <a:r>
              <a:rPr lang="en-US" sz="1300" b="1"/>
              <a:t>interactive dashboard</a:t>
            </a:r>
            <a:r>
              <a:rPr lang="en-US" sz="1300"/>
              <a:t> intended for analysts and program managers who require deeper exploration of childcare affordability patterns.</a:t>
            </a:r>
          </a:p>
          <a:p>
            <a:pPr marL="0" indent="0">
              <a:lnSpc>
                <a:spcPct val="110000"/>
              </a:lnSpc>
              <a:buNone/>
            </a:pPr>
            <a:r>
              <a:rPr lang="en-US" sz="1300"/>
              <a:t>A dashboard would allow users to interact with the data and explore affordability patterns through filters such as:</a:t>
            </a:r>
          </a:p>
          <a:p>
            <a:pPr>
              <a:lnSpc>
                <a:spcPct val="110000"/>
              </a:lnSpc>
            </a:pPr>
            <a:r>
              <a:rPr lang="en-US" sz="1300"/>
              <a:t>state or county</a:t>
            </a:r>
          </a:p>
          <a:p>
            <a:pPr>
              <a:lnSpc>
                <a:spcPct val="110000"/>
              </a:lnSpc>
            </a:pPr>
            <a:r>
              <a:rPr lang="en-US" sz="1300"/>
              <a:t>childcare type</a:t>
            </a:r>
          </a:p>
          <a:p>
            <a:pPr>
              <a:lnSpc>
                <a:spcPct val="110000"/>
              </a:lnSpc>
            </a:pPr>
            <a:r>
              <a:rPr lang="en-US" sz="1300"/>
              <a:t>age group</a:t>
            </a:r>
          </a:p>
          <a:p>
            <a:pPr>
              <a:lnSpc>
                <a:spcPct val="110000"/>
              </a:lnSpc>
            </a:pPr>
            <a:r>
              <a:rPr lang="en-US" sz="1300"/>
              <a:t>affordability threshold</a:t>
            </a:r>
          </a:p>
          <a:p>
            <a:pPr marL="0" indent="0">
              <a:lnSpc>
                <a:spcPct val="110000"/>
              </a:lnSpc>
              <a:buNone/>
            </a:pPr>
            <a:r>
              <a:rPr lang="en-US" sz="1300"/>
              <a:t>This medium enables users to identify high-burden regions and prioritize policy responses based on localized data.</a:t>
            </a:r>
          </a:p>
          <a:p>
            <a:pPr marL="0" indent="0">
              <a:lnSpc>
                <a:spcPct val="110000"/>
              </a:lnSpc>
              <a:buNone/>
            </a:pPr>
            <a:endParaRPr lang="en-US" sz="1300"/>
          </a:p>
        </p:txBody>
      </p:sp>
      <p:pic>
        <p:nvPicPr>
          <p:cNvPr id="13" name="Audio 12">
            <a:hlinkClick r:id="" action="ppaction://media"/>
            <a:extLst>
              <a:ext uri="{FF2B5EF4-FFF2-40B4-BE49-F238E27FC236}">
                <a16:creationId xmlns:a16="http://schemas.microsoft.com/office/drawing/2014/main" id="{51227943-64F1-A22A-177C-4D549E93BA65}"/>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215021455"/>
      </p:ext>
    </p:extLst>
  </p:cSld>
  <p:clrMapOvr>
    <a:masterClrMapping/>
  </p:clrMapOvr>
  <mc:AlternateContent xmlns:mc="http://schemas.openxmlformats.org/markup-compatibility/2006">
    <mc:Choice xmlns:p14="http://schemas.microsoft.com/office/powerpoint/2010/main" Requires="p14">
      <p:transition spd="slow" p14:dur="2000" advTm="22041"/>
    </mc:Choice>
    <mc:Fallback>
      <p:transition spd="slow" advTm="220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61F06A-7894-3230-0107-E488DF5097C8}"/>
              </a:ext>
            </a:extLst>
          </p:cNvPr>
          <p:cNvSpPr>
            <a:spLocks noGrp="1"/>
          </p:cNvSpPr>
          <p:nvPr>
            <p:ph type="title"/>
          </p:nvPr>
        </p:nvSpPr>
        <p:spPr>
          <a:xfrm>
            <a:off x="640080" y="1371600"/>
            <a:ext cx="10890928" cy="971550"/>
          </a:xfrm>
        </p:spPr>
        <p:txBody>
          <a:bodyPr anchor="t">
            <a:normAutofit/>
          </a:bodyPr>
          <a:lstStyle/>
          <a:p>
            <a:r>
              <a:rPr lang="en-US" dirty="0"/>
              <a:t>Medium 3: Public Infographic</a:t>
            </a:r>
          </a:p>
        </p:txBody>
      </p:sp>
      <p:cxnSp>
        <p:nvCxnSpPr>
          <p:cNvPr id="15" name="Straight Connector 14">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C7D7C87-B8F6-0999-FA2D-2A990D45CBB9}"/>
              </a:ext>
            </a:extLst>
          </p:cNvPr>
          <p:cNvPicPr>
            <a:picLocks noChangeAspect="1"/>
          </p:cNvPicPr>
          <p:nvPr/>
        </p:nvPicPr>
        <p:blipFill>
          <a:blip r:embed="rId5">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713232" y="2537460"/>
            <a:ext cx="5648193" cy="3473596"/>
          </a:xfrm>
          <a:prstGeom prst="rect">
            <a:avLst/>
          </a:prstGeom>
        </p:spPr>
      </p:pic>
      <p:sp>
        <p:nvSpPr>
          <p:cNvPr id="3" name="Content Placeholder 2">
            <a:extLst>
              <a:ext uri="{FF2B5EF4-FFF2-40B4-BE49-F238E27FC236}">
                <a16:creationId xmlns:a16="http://schemas.microsoft.com/office/drawing/2014/main" id="{2AB9106C-9312-689C-D2D3-A5E784033079}"/>
              </a:ext>
            </a:extLst>
          </p:cNvPr>
          <p:cNvSpPr>
            <a:spLocks noGrp="1"/>
          </p:cNvSpPr>
          <p:nvPr>
            <p:ph idx="1"/>
          </p:nvPr>
        </p:nvSpPr>
        <p:spPr>
          <a:xfrm>
            <a:off x="6871063" y="2537460"/>
            <a:ext cx="4659945" cy="3760459"/>
          </a:xfrm>
        </p:spPr>
        <p:txBody>
          <a:bodyPr anchor="t">
            <a:normAutofit/>
          </a:bodyPr>
          <a:lstStyle/>
          <a:p>
            <a:pPr marL="0" indent="0">
              <a:lnSpc>
                <a:spcPct val="110000"/>
              </a:lnSpc>
              <a:buNone/>
            </a:pPr>
            <a:r>
              <a:rPr lang="en-US" sz="1600"/>
              <a:t>The third communication medium is a </a:t>
            </a:r>
            <a:r>
              <a:rPr lang="en-US" sz="1600" b="1"/>
              <a:t>public-facing infographic</a:t>
            </a:r>
            <a:r>
              <a:rPr lang="en-US" sz="1600"/>
              <a:t> designed for parents, advocacy groups, and the general public.</a:t>
            </a:r>
          </a:p>
          <a:p>
            <a:pPr marL="0" indent="0">
              <a:lnSpc>
                <a:spcPct val="110000"/>
              </a:lnSpc>
              <a:buNone/>
            </a:pPr>
            <a:r>
              <a:rPr lang="en-US" sz="1600"/>
              <a:t>Unlike the policy presentation or dashboard, the infographic focuses on accessibility and quick understanding. Simplified visuals highlight key insights about childcare affordability and communicate the financial burden faced by families with young children.</a:t>
            </a:r>
          </a:p>
          <a:p>
            <a:pPr marL="0" indent="0">
              <a:lnSpc>
                <a:spcPct val="110000"/>
              </a:lnSpc>
              <a:buNone/>
            </a:pPr>
            <a:r>
              <a:rPr lang="en-US" sz="1600"/>
              <a:t>The goal of this medium is to increase awareness and encourage public engagement around childcare affordability challenges.</a:t>
            </a:r>
          </a:p>
          <a:p>
            <a:pPr marL="0" indent="0">
              <a:lnSpc>
                <a:spcPct val="110000"/>
              </a:lnSpc>
              <a:buNone/>
            </a:pPr>
            <a:endParaRPr lang="en-US" sz="1600"/>
          </a:p>
        </p:txBody>
      </p:sp>
      <p:pic>
        <p:nvPicPr>
          <p:cNvPr id="19" name="Audio 18">
            <a:hlinkClick r:id="" action="ppaction://media"/>
            <a:extLst>
              <a:ext uri="{FF2B5EF4-FFF2-40B4-BE49-F238E27FC236}">
                <a16:creationId xmlns:a16="http://schemas.microsoft.com/office/drawing/2014/main" id="{C430EDEC-E395-705F-D84F-E977818C487E}"/>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229331019"/>
      </p:ext>
    </p:extLst>
  </p:cSld>
  <p:clrMapOvr>
    <a:masterClrMapping/>
  </p:clrMapOvr>
  <mc:AlternateContent xmlns:mc="http://schemas.openxmlformats.org/markup-compatibility/2006">
    <mc:Choice xmlns:p14="http://schemas.microsoft.com/office/powerpoint/2010/main" Requires="p14">
      <p:transition spd="slow" p14:dur="2000" advTm="17999"/>
    </mc:Choice>
    <mc:Fallback>
      <p:transition spd="slow" advTm="179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7" name="Picture 6">
            <a:extLst>
              <a:ext uri="{FF2B5EF4-FFF2-40B4-BE49-F238E27FC236}">
                <a16:creationId xmlns:a16="http://schemas.microsoft.com/office/drawing/2014/main" id="{43A42DBB-F734-D439-F925-5E77B206F309}"/>
              </a:ext>
            </a:extLst>
          </p:cNvPr>
          <p:cNvPicPr>
            <a:picLocks noChangeAspect="1"/>
          </p:cNvPicPr>
          <p:nvPr/>
        </p:nvPicPr>
        <p:blipFill>
          <a:blip r:embed="rId5">
            <a:alphaModFix/>
            <a:extLst>
              <a:ext uri="{28A0092B-C50C-407E-A947-70E740481C1C}">
                <a14:useLocalDpi xmlns:a14="http://schemas.microsoft.com/office/drawing/2010/main" val="0"/>
              </a:ext>
            </a:extLst>
          </a:blip>
          <a:srcRect l="519"/>
          <a:stretch>
            <a:fillRect/>
          </a:stretch>
        </p:blipFill>
        <p:spPr>
          <a:xfrm>
            <a:off x="-4704" y="10"/>
            <a:ext cx="5696712" cy="6857990"/>
          </a:xfrm>
          <a:prstGeom prst="rect">
            <a:avLst/>
          </a:prstGeom>
        </p:spPr>
      </p:pic>
      <p:sp>
        <p:nvSpPr>
          <p:cNvPr id="21" name="Rectangle 20">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B604CCA2-3D74-38E2-6DCF-26AD626F7C5B}"/>
              </a:ext>
            </a:extLst>
          </p:cNvPr>
          <p:cNvSpPr>
            <a:spLocks noGrp="1"/>
          </p:cNvSpPr>
          <p:nvPr>
            <p:ph type="title"/>
          </p:nvPr>
        </p:nvSpPr>
        <p:spPr>
          <a:xfrm>
            <a:off x="642519" y="1371601"/>
            <a:ext cx="4023360" cy="2671482"/>
          </a:xfrm>
        </p:spPr>
        <p:txBody>
          <a:bodyPr>
            <a:normAutofit/>
          </a:bodyPr>
          <a:lstStyle/>
          <a:p>
            <a:r>
              <a:rPr lang="en-US">
                <a:solidFill>
                  <a:srgbClr val="FFFFFF"/>
                </a:solidFill>
              </a:rPr>
              <a:t>Key Insights</a:t>
            </a:r>
          </a:p>
        </p:txBody>
      </p:sp>
      <p:cxnSp>
        <p:nvCxnSpPr>
          <p:cNvPr id="23" name="Straight Connector 22">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D880739-AD86-6250-EAE2-59EF75FA46BA}"/>
              </a:ext>
            </a:extLst>
          </p:cNvPr>
          <p:cNvSpPr>
            <a:spLocks noGrp="1"/>
          </p:cNvSpPr>
          <p:nvPr>
            <p:ph idx="1"/>
          </p:nvPr>
        </p:nvSpPr>
        <p:spPr>
          <a:xfrm>
            <a:off x="6242960" y="1031002"/>
            <a:ext cx="5288049" cy="5266922"/>
          </a:xfrm>
        </p:spPr>
        <p:txBody>
          <a:bodyPr>
            <a:normAutofit/>
          </a:bodyPr>
          <a:lstStyle/>
          <a:p>
            <a:pPr marL="0" indent="0">
              <a:lnSpc>
                <a:spcPct val="110000"/>
              </a:lnSpc>
              <a:buNone/>
            </a:pPr>
            <a:r>
              <a:rPr lang="en-US" sz="1700"/>
              <a:t>The analysis highlights several important patterns:</a:t>
            </a:r>
          </a:p>
          <a:p>
            <a:pPr>
              <a:lnSpc>
                <a:spcPct val="110000"/>
              </a:lnSpc>
            </a:pPr>
            <a:r>
              <a:rPr lang="en-US" sz="1700"/>
              <a:t>Infant childcare represents the </a:t>
            </a:r>
            <a:r>
              <a:rPr lang="en-US" sz="1700" b="1"/>
              <a:t>largest affordability challenge</a:t>
            </a:r>
            <a:r>
              <a:rPr lang="en-US" sz="1700"/>
              <a:t> for families.</a:t>
            </a:r>
          </a:p>
          <a:p>
            <a:pPr>
              <a:lnSpc>
                <a:spcPct val="110000"/>
              </a:lnSpc>
            </a:pPr>
            <a:r>
              <a:rPr lang="en-US" sz="1700"/>
              <a:t>Center-based childcare is consistently more expensive than family childcare.</a:t>
            </a:r>
          </a:p>
          <a:p>
            <a:pPr>
              <a:lnSpc>
                <a:spcPct val="110000"/>
              </a:lnSpc>
            </a:pPr>
            <a:r>
              <a:rPr lang="en-US" sz="1700"/>
              <a:t>Childcare affordability varies significantly across counties and states.</a:t>
            </a:r>
          </a:p>
          <a:p>
            <a:pPr>
              <a:lnSpc>
                <a:spcPct val="110000"/>
              </a:lnSpc>
            </a:pPr>
            <a:r>
              <a:rPr lang="en-US" sz="1700"/>
              <a:t>Higher household income does not always eliminate affordability challenges.</a:t>
            </a:r>
          </a:p>
          <a:p>
            <a:pPr>
              <a:lnSpc>
                <a:spcPct val="110000"/>
              </a:lnSpc>
            </a:pPr>
            <a:r>
              <a:rPr lang="en-US" sz="1700"/>
              <a:t>Geographic differences suggest the need for </a:t>
            </a:r>
            <a:r>
              <a:rPr lang="en-US" sz="1700" b="1"/>
              <a:t>targeted policy interventions</a:t>
            </a:r>
            <a:r>
              <a:rPr lang="en-US" sz="1700"/>
              <a:t>.</a:t>
            </a:r>
          </a:p>
          <a:p>
            <a:pPr marL="0" indent="0">
              <a:lnSpc>
                <a:spcPct val="110000"/>
              </a:lnSpc>
              <a:buNone/>
            </a:pPr>
            <a:r>
              <a:rPr lang="en-US" sz="1700"/>
              <a:t>These insights demonstrate that childcare affordability is not only expensive, but also unevenly distributed across the United States.</a:t>
            </a:r>
          </a:p>
          <a:p>
            <a:pPr marL="0" indent="0">
              <a:lnSpc>
                <a:spcPct val="110000"/>
              </a:lnSpc>
              <a:buNone/>
            </a:pPr>
            <a:endParaRPr lang="en-US" sz="1700"/>
          </a:p>
        </p:txBody>
      </p:sp>
      <p:pic>
        <p:nvPicPr>
          <p:cNvPr id="26" name="Audio 25">
            <a:hlinkClick r:id="" action="ppaction://media"/>
            <a:extLst>
              <a:ext uri="{FF2B5EF4-FFF2-40B4-BE49-F238E27FC236}">
                <a16:creationId xmlns:a16="http://schemas.microsoft.com/office/drawing/2014/main" id="{139A5AF0-82E3-A421-264B-2AF6AC2831B6}"/>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181996042"/>
      </p:ext>
    </p:extLst>
  </p:cSld>
  <p:clrMapOvr>
    <a:masterClrMapping/>
  </p:clrMapOvr>
  <mc:AlternateContent xmlns:mc="http://schemas.openxmlformats.org/markup-compatibility/2006">
    <mc:Choice xmlns:p14="http://schemas.microsoft.com/office/powerpoint/2010/main" Requires="p14">
      <p:transition spd="slow" p14:dur="2000" advTm="26315"/>
    </mc:Choice>
    <mc:Fallback>
      <p:transition spd="slow" advTm="263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7" name="Picture 6">
            <a:extLst>
              <a:ext uri="{FF2B5EF4-FFF2-40B4-BE49-F238E27FC236}">
                <a16:creationId xmlns:a16="http://schemas.microsoft.com/office/drawing/2014/main" id="{0F184140-BCD2-1538-1333-94849B475DC0}"/>
              </a:ext>
            </a:extLst>
          </p:cNvPr>
          <p:cNvPicPr>
            <a:picLocks noChangeAspect="1"/>
          </p:cNvPicPr>
          <p:nvPr/>
        </p:nvPicPr>
        <p:blipFill>
          <a:blip r:embed="rId5">
            <a:alphaModFix/>
            <a:extLst>
              <a:ext uri="{28A0092B-C50C-407E-A947-70E740481C1C}">
                <a14:useLocalDpi xmlns:a14="http://schemas.microsoft.com/office/drawing/2010/main" val="0"/>
              </a:ext>
            </a:extLst>
          </a:blip>
          <a:srcRect t="9711"/>
          <a:stretch>
            <a:fillRect/>
          </a:stretch>
        </p:blipFill>
        <p:spPr>
          <a:xfrm>
            <a:off x="-4704" y="10"/>
            <a:ext cx="5696712" cy="6857990"/>
          </a:xfrm>
          <a:prstGeom prst="rect">
            <a:avLst/>
          </a:prstGeom>
        </p:spPr>
      </p:pic>
      <p:sp>
        <p:nvSpPr>
          <p:cNvPr id="21" name="Rectangle 20">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0453DDE5-50BC-6FEE-4C1F-45593B1E6110}"/>
              </a:ext>
            </a:extLst>
          </p:cNvPr>
          <p:cNvSpPr>
            <a:spLocks noGrp="1"/>
          </p:cNvSpPr>
          <p:nvPr>
            <p:ph type="title"/>
          </p:nvPr>
        </p:nvSpPr>
        <p:spPr>
          <a:xfrm>
            <a:off x="642519" y="1371601"/>
            <a:ext cx="4023360" cy="2671482"/>
          </a:xfrm>
        </p:spPr>
        <p:txBody>
          <a:bodyPr>
            <a:normAutofit/>
          </a:bodyPr>
          <a:lstStyle/>
          <a:p>
            <a:r>
              <a:rPr lang="en-US">
                <a:solidFill>
                  <a:srgbClr val="FFFFFF"/>
                </a:solidFill>
              </a:rPr>
              <a:t>Design Decisions</a:t>
            </a:r>
          </a:p>
        </p:txBody>
      </p:sp>
      <p:cxnSp>
        <p:nvCxnSpPr>
          <p:cNvPr id="23" name="Straight Connector 22">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D4F4412-DF11-18E2-79C1-8F8FB013A093}"/>
              </a:ext>
            </a:extLst>
          </p:cNvPr>
          <p:cNvSpPr>
            <a:spLocks noGrp="1"/>
          </p:cNvSpPr>
          <p:nvPr>
            <p:ph idx="1"/>
          </p:nvPr>
        </p:nvSpPr>
        <p:spPr>
          <a:xfrm>
            <a:off x="6242960" y="1031002"/>
            <a:ext cx="5288049" cy="5266922"/>
          </a:xfrm>
        </p:spPr>
        <p:txBody>
          <a:bodyPr>
            <a:normAutofit/>
          </a:bodyPr>
          <a:lstStyle/>
          <a:p>
            <a:pPr marL="0" indent="0">
              <a:lnSpc>
                <a:spcPct val="110000"/>
              </a:lnSpc>
              <a:buNone/>
            </a:pPr>
            <a:r>
              <a:rPr lang="en-US" sz="1700"/>
              <a:t>The visual design of this project emphasizes clarity and accessibility for non-technical audiences. Bar charts were used to compare childcare prices across age groups and childcare types because they provide straightforward comparisons. Histograms were used to display affordability distributions and cost gaps in order to highlight variability and inequality rather than focusing only on averages.</a:t>
            </a:r>
          </a:p>
          <a:p>
            <a:pPr marL="0" indent="0">
              <a:lnSpc>
                <a:spcPct val="110000"/>
              </a:lnSpc>
              <a:buNone/>
            </a:pPr>
            <a:r>
              <a:rPr lang="en-US" sz="1700"/>
              <a:t>A scatter plot was used to examine the relationship between income and childcare cost, demonstrating that affordability challenges extend beyond low-income regions. Consistent colors, clear labeling, and balanced spacing were used throughout the visuals to minimize cognitive load and improve readability for policymakers and stakeholders.</a:t>
            </a:r>
          </a:p>
          <a:p>
            <a:pPr>
              <a:lnSpc>
                <a:spcPct val="110000"/>
              </a:lnSpc>
            </a:pPr>
            <a:endParaRPr lang="en-US" sz="1700"/>
          </a:p>
        </p:txBody>
      </p:sp>
      <p:pic>
        <p:nvPicPr>
          <p:cNvPr id="15" name="Audio 14">
            <a:hlinkClick r:id="" action="ppaction://media"/>
            <a:extLst>
              <a:ext uri="{FF2B5EF4-FFF2-40B4-BE49-F238E27FC236}">
                <a16:creationId xmlns:a16="http://schemas.microsoft.com/office/drawing/2014/main" id="{B1F995CE-B755-77D2-6F90-CD6C3B7CE76B}"/>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172905913"/>
      </p:ext>
    </p:extLst>
  </p:cSld>
  <p:clrMapOvr>
    <a:masterClrMapping/>
  </p:clrMapOvr>
  <mc:AlternateContent xmlns:mc="http://schemas.openxmlformats.org/markup-compatibility/2006">
    <mc:Choice xmlns:p14="http://schemas.microsoft.com/office/powerpoint/2010/main" Requires="p14">
      <p:transition spd="slow" p14:dur="2000" advTm="20800"/>
    </mc:Choice>
    <mc:Fallback>
      <p:transition spd="slow" advTm="20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a:extLst>
              <a:ext uri="{FF2B5EF4-FFF2-40B4-BE49-F238E27FC236}">
                <a16:creationId xmlns:a16="http://schemas.microsoft.com/office/drawing/2014/main" id="{0F6E4C29-8C2F-0D09-4602-7C35EF5E22C0}"/>
              </a:ext>
            </a:extLst>
          </p:cNvPr>
          <p:cNvPicPr>
            <a:picLocks noChangeAspect="1"/>
          </p:cNvPicPr>
          <p:nvPr/>
        </p:nvPicPr>
        <p:blipFill>
          <a:blip r:embed="rId5">
            <a:alphaModFix/>
            <a:extLst>
              <a:ext uri="{28A0092B-C50C-407E-A947-70E740481C1C}">
                <a14:useLocalDpi xmlns:a14="http://schemas.microsoft.com/office/drawing/2010/main" val="0"/>
              </a:ext>
            </a:extLst>
          </a:blip>
          <a:srcRect l="7586" r="8508"/>
          <a:stretch>
            <a:fillRect/>
          </a:stretch>
        </p:blipFill>
        <p:spPr>
          <a:xfrm>
            <a:off x="-4704" y="10"/>
            <a:ext cx="5696712" cy="6857990"/>
          </a:xfrm>
          <a:prstGeom prst="rect">
            <a:avLst/>
          </a:prstGeom>
        </p:spPr>
      </p:pic>
      <p:sp>
        <p:nvSpPr>
          <p:cNvPr id="12" name="Rectangle 11">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A1E715B7-A296-29EE-F768-05BBB41AA2FC}"/>
              </a:ext>
            </a:extLst>
          </p:cNvPr>
          <p:cNvSpPr>
            <a:spLocks noGrp="1"/>
          </p:cNvSpPr>
          <p:nvPr>
            <p:ph type="title"/>
          </p:nvPr>
        </p:nvSpPr>
        <p:spPr>
          <a:xfrm>
            <a:off x="642519" y="1371601"/>
            <a:ext cx="4023360" cy="2671482"/>
          </a:xfrm>
        </p:spPr>
        <p:txBody>
          <a:bodyPr>
            <a:normAutofit/>
          </a:bodyPr>
          <a:lstStyle/>
          <a:p>
            <a:r>
              <a:rPr lang="en-US">
                <a:solidFill>
                  <a:srgbClr val="FFFFFF"/>
                </a:solidFill>
              </a:rPr>
              <a:t>Conclusion</a:t>
            </a:r>
          </a:p>
        </p:txBody>
      </p:sp>
      <p:cxnSp>
        <p:nvCxnSpPr>
          <p:cNvPr id="14" name="Straight Connector 13">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F8FD4FA-87B8-5C4C-1256-A7B8D7325BD4}"/>
              </a:ext>
            </a:extLst>
          </p:cNvPr>
          <p:cNvSpPr>
            <a:spLocks noGrp="1"/>
          </p:cNvSpPr>
          <p:nvPr>
            <p:ph idx="1"/>
          </p:nvPr>
        </p:nvSpPr>
        <p:spPr>
          <a:xfrm>
            <a:off x="6242960" y="1031002"/>
            <a:ext cx="5288049" cy="5266922"/>
          </a:xfrm>
        </p:spPr>
        <p:txBody>
          <a:bodyPr>
            <a:normAutofit/>
          </a:bodyPr>
          <a:lstStyle/>
          <a:p>
            <a:pPr marL="0" indent="0">
              <a:lnSpc>
                <a:spcPct val="110000"/>
              </a:lnSpc>
              <a:buNone/>
            </a:pPr>
            <a:r>
              <a:rPr lang="en-US" dirty="0"/>
              <a:t>Childcare affordability represents a significant financial challenge for families across the United States, particularly for households with infants requiring full-time care. The analysis demonstrates that affordability burdens vary widely across counties and states, indicating that childcare challenges are not evenly distributed nationwide.</a:t>
            </a:r>
            <a:endParaRPr lang="en-US"/>
          </a:p>
          <a:p>
            <a:pPr marL="0" indent="0">
              <a:lnSpc>
                <a:spcPct val="110000"/>
              </a:lnSpc>
              <a:buNone/>
            </a:pPr>
            <a:r>
              <a:rPr lang="en-US" dirty="0"/>
              <a:t>By translating complex data into clear visual narratives, this project illustrates how data storytelling can inform targeted policy responses aimed at improving childcare accessibility, strengthening workforce participation, and supporting family financial stability.</a:t>
            </a:r>
            <a:endParaRPr lang="en-US"/>
          </a:p>
        </p:txBody>
      </p:sp>
      <p:pic>
        <p:nvPicPr>
          <p:cNvPr id="26" name="Audio 25">
            <a:hlinkClick r:id="" action="ppaction://media"/>
            <a:extLst>
              <a:ext uri="{FF2B5EF4-FFF2-40B4-BE49-F238E27FC236}">
                <a16:creationId xmlns:a16="http://schemas.microsoft.com/office/drawing/2014/main" id="{89F790E4-A152-A697-B8F1-4000C26943BD}"/>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735132177"/>
      </p:ext>
    </p:extLst>
  </p:cSld>
  <p:clrMapOvr>
    <a:masterClrMapping/>
  </p:clrMapOvr>
  <mc:AlternateContent xmlns:mc="http://schemas.openxmlformats.org/markup-compatibility/2006">
    <mc:Choice xmlns:p14="http://schemas.microsoft.com/office/powerpoint/2010/main" Requires="p14">
      <p:transition spd="slow" p14:dur="2000" advTm="26578"/>
    </mc:Choice>
    <mc:Fallback>
      <p:transition spd="slow" advTm="265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4236</TotalTime>
  <Words>1109</Words>
  <Application>Microsoft Office PowerPoint</Application>
  <PresentationFormat>Widescreen</PresentationFormat>
  <Paragraphs>80</Paragraphs>
  <Slides>15</Slides>
  <Notes>15</Notes>
  <HiddenSlides>0</HiddenSlides>
  <MMClips>15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Grandview Display</vt:lpstr>
      <vt:lpstr>DashVTI</vt:lpstr>
      <vt:lpstr>Childcare Affordability Across U.S. Counties </vt:lpstr>
      <vt:lpstr>Problem Statement</vt:lpstr>
      <vt:lpstr>Dataset</vt:lpstr>
      <vt:lpstr>Analytical Approach</vt:lpstr>
      <vt:lpstr>Medium 1: Policy Presentation</vt:lpstr>
      <vt:lpstr>Childcare Costs by Age Group</vt:lpstr>
      <vt:lpstr>Affordability Burden Across Counties</vt:lpstr>
      <vt:lpstr>States with the Highest Affordability Burden</vt:lpstr>
      <vt:lpstr>Income and Childcare Cost Relationship</vt:lpstr>
      <vt:lpstr>Center vs Family Infant Care Cost Gap</vt:lpstr>
      <vt:lpstr>Medium 2: Dashboard Concept</vt:lpstr>
      <vt:lpstr>Medium 3: Public Infographic</vt:lpstr>
      <vt:lpstr>Key Insights</vt:lpstr>
      <vt:lpstr>Design Decisions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shaghayegh malekshahi</dc:creator>
  <cp:lastModifiedBy>shaghayegh malekshahi</cp:lastModifiedBy>
  <cp:revision>5</cp:revision>
  <dcterms:created xsi:type="dcterms:W3CDTF">2026-03-05T03:44:28Z</dcterms:created>
  <dcterms:modified xsi:type="dcterms:W3CDTF">2026-03-08T02:20:36Z</dcterms:modified>
</cp:coreProperties>
</file>